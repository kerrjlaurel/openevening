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83" autoAdjust="0"/>
    <p:restoredTop sz="86301" autoAdjust="0"/>
  </p:normalViewPr>
  <p:slideViewPr>
    <p:cSldViewPr snapToGrid="0">
      <p:cViewPr varScale="1">
        <p:scale>
          <a:sx n="40" d="100"/>
          <a:sy n="40" d="100"/>
        </p:scale>
        <p:origin x="634" y="43"/>
      </p:cViewPr>
      <p:guideLst/>
    </p:cSldViewPr>
  </p:slideViewPr>
  <p:outlineViewPr>
    <p:cViewPr>
      <p:scale>
        <a:sx n="33" d="100"/>
        <a:sy n="33" d="100"/>
      </p:scale>
      <p:origin x="0" y="-524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EF00-1178-2B50-4CB8-95685785D0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685CC79-EC02-2143-8BD1-2304FDF8E0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D345703-83DE-8471-CDF7-40FBD9761347}"/>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5" name="Footer Placeholder 4">
            <a:extLst>
              <a:ext uri="{FF2B5EF4-FFF2-40B4-BE49-F238E27FC236}">
                <a16:creationId xmlns:a16="http://schemas.microsoft.com/office/drawing/2014/main" id="{11D62AB7-B239-2C66-8670-F9209037E6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361E193-2549-B874-7E87-A77974AC8CFA}"/>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1007883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0A57A-6D7D-3CDB-B62E-5DCB03E7B6E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C9DD680-7496-B81F-F98B-ECAF551332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BED34F1-ADA9-FFDC-9450-7B456A28449F}"/>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5" name="Footer Placeholder 4">
            <a:extLst>
              <a:ext uri="{FF2B5EF4-FFF2-40B4-BE49-F238E27FC236}">
                <a16:creationId xmlns:a16="http://schemas.microsoft.com/office/drawing/2014/main" id="{7C9BA24B-FD60-8416-7441-D446FBF657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C64706-E63B-76DF-E111-78E6E7B051FA}"/>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1492948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A998D-23F0-EDD4-3A46-907688959F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9477B24-F810-4E50-6FEE-9E53164AA6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764A87-1F01-90C2-3485-AFA220DC71B1}"/>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5" name="Footer Placeholder 4">
            <a:extLst>
              <a:ext uri="{FF2B5EF4-FFF2-40B4-BE49-F238E27FC236}">
                <a16:creationId xmlns:a16="http://schemas.microsoft.com/office/drawing/2014/main" id="{AE52E9B5-5760-5718-DD54-5D11CA2F9F4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232507-FDF2-091B-7E85-58AB44B159E3}"/>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866210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E3ED-BE41-2349-64B9-651D2F9494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D9E324-11B7-7B73-9D45-B9E976CF26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749793E-260C-FBDF-4C33-F73FDDC267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EA132A9-C658-4976-D0D8-ACB32A07BB0C}"/>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6" name="Footer Placeholder 5">
            <a:extLst>
              <a:ext uri="{FF2B5EF4-FFF2-40B4-BE49-F238E27FC236}">
                <a16:creationId xmlns:a16="http://schemas.microsoft.com/office/drawing/2014/main" id="{6835AED8-E182-F1CB-0D4D-413459AC6DB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576E18-09B2-E7AB-626B-97C632F845F9}"/>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1903537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47462-F03D-5D2A-3036-98B22540347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32CA02-535D-A324-C390-3E97EC972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384AFA-2765-1BF7-FA1C-0281245607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154C07A-1765-2D89-E9FE-B5D57DE2B5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C1D0BB-91EB-08BC-448A-509AE409BA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B6B8E08-0FF0-6E4F-6316-EC7E50A82C90}"/>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8" name="Footer Placeholder 7">
            <a:extLst>
              <a:ext uri="{FF2B5EF4-FFF2-40B4-BE49-F238E27FC236}">
                <a16:creationId xmlns:a16="http://schemas.microsoft.com/office/drawing/2014/main" id="{15307CEA-7B59-780B-9CA8-2D5188BD102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1D8BC2B-4E78-06E4-B7E1-E455CF1AC517}"/>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219205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F75CD-633E-5586-992D-E51D464E143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361C562-3DC5-2BD8-2FB0-5F56B1B3E277}"/>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4" name="Footer Placeholder 3">
            <a:extLst>
              <a:ext uri="{FF2B5EF4-FFF2-40B4-BE49-F238E27FC236}">
                <a16:creationId xmlns:a16="http://schemas.microsoft.com/office/drawing/2014/main" id="{190B1A65-6A64-BA17-F366-5AC8FDD652B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A73146F-9035-4E11-F8D5-FC391E8AB9E2}"/>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4219283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8E952E-1193-DFB8-F204-3B7CE72C25DB}"/>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3" name="Footer Placeholder 2">
            <a:extLst>
              <a:ext uri="{FF2B5EF4-FFF2-40B4-BE49-F238E27FC236}">
                <a16:creationId xmlns:a16="http://schemas.microsoft.com/office/drawing/2014/main" id="{E2225242-4CE9-ABD1-87F4-1BBD8839C53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8CEDC7F-DBFD-71FC-6C8D-D471D3A11A98}"/>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2541250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268C0-2656-D2F3-285B-80B07F22AA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D1DCFC-0C46-F72D-799D-9ACA2FB7D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E2D0CD3-7379-E542-252E-2894C83B6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8B64A6-C00F-0391-1A99-0BBD43A500E3}"/>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6" name="Footer Placeholder 5">
            <a:extLst>
              <a:ext uri="{FF2B5EF4-FFF2-40B4-BE49-F238E27FC236}">
                <a16:creationId xmlns:a16="http://schemas.microsoft.com/office/drawing/2014/main" id="{D127B7F6-6145-FA93-3350-798C0784B21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9A40E6-870B-6FA6-0AFC-B9369B28C70E}"/>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305570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AE3E-EB2D-FDFC-EA1F-AAD0EC5F84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74D75CE-2644-1682-39E4-2B17EF74DE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40676C1-F818-6F6C-8C97-8B1D7EC4FF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81954-30DF-3494-DA0B-4B0D5C58DDE6}"/>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6" name="Footer Placeholder 5">
            <a:extLst>
              <a:ext uri="{FF2B5EF4-FFF2-40B4-BE49-F238E27FC236}">
                <a16:creationId xmlns:a16="http://schemas.microsoft.com/office/drawing/2014/main" id="{9DFED533-AB2F-01BC-65D6-BC83792B77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1E443B5-ADCD-B913-517D-7D1B325CDD33}"/>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2352621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0C590-9160-28D4-3A46-1CD8A23B69A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A33A6D3-E6FE-DA06-E2F2-FD6B039C5F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5636F1-E051-B608-0F38-B64E9C1B7E35}"/>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5" name="Footer Placeholder 4">
            <a:extLst>
              <a:ext uri="{FF2B5EF4-FFF2-40B4-BE49-F238E27FC236}">
                <a16:creationId xmlns:a16="http://schemas.microsoft.com/office/drawing/2014/main" id="{0347ACC0-64FB-789A-F509-FA2EEDA16E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B41311D-976B-39B1-81AA-7F9B1F5C154D}"/>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1623126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D3CB22-EFFD-992A-34D2-1617529AED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C11251C-424F-267D-2C54-5CE441F944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E7F7C6-3F0E-A19B-B786-67DDD3DEE236}"/>
              </a:ext>
            </a:extLst>
          </p:cNvPr>
          <p:cNvSpPr>
            <a:spLocks noGrp="1"/>
          </p:cNvSpPr>
          <p:nvPr>
            <p:ph type="dt" sz="half" idx="10"/>
          </p:nvPr>
        </p:nvSpPr>
        <p:spPr/>
        <p:txBody>
          <a:bodyPr/>
          <a:lstStyle/>
          <a:p>
            <a:fld id="{BDAFC071-D593-4359-AA27-F2E950A95DD6}" type="datetimeFigureOut">
              <a:rPr lang="en-GB" smtClean="0"/>
              <a:t>05/09/2026</a:t>
            </a:fld>
            <a:endParaRPr lang="en-GB"/>
          </a:p>
        </p:txBody>
      </p:sp>
      <p:sp>
        <p:nvSpPr>
          <p:cNvPr id="5" name="Footer Placeholder 4">
            <a:extLst>
              <a:ext uri="{FF2B5EF4-FFF2-40B4-BE49-F238E27FC236}">
                <a16:creationId xmlns:a16="http://schemas.microsoft.com/office/drawing/2014/main" id="{96B9BC08-0246-1727-D480-CCC300A9EA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003BC0-EECC-2622-9C6A-999D3D5DF73B}"/>
              </a:ext>
            </a:extLst>
          </p:cNvPr>
          <p:cNvSpPr>
            <a:spLocks noGrp="1"/>
          </p:cNvSpPr>
          <p:nvPr>
            <p:ph type="sldNum" sz="quarter" idx="12"/>
          </p:nvPr>
        </p:nvSpPr>
        <p:spPr/>
        <p:txBody>
          <a:bodyPr/>
          <a:lstStyle/>
          <a:p>
            <a:fld id="{DE0DF88C-D176-4A8D-B60C-7713D6C82A74}" type="slidenum">
              <a:rPr lang="en-GB" smtClean="0"/>
              <a:t>‹#›</a:t>
            </a:fld>
            <a:endParaRPr lang="en-GB"/>
          </a:p>
        </p:txBody>
      </p:sp>
    </p:spTree>
    <p:extLst>
      <p:ext uri="{BB962C8B-B14F-4D97-AF65-F5344CB8AC3E}">
        <p14:creationId xmlns:p14="http://schemas.microsoft.com/office/powerpoint/2010/main" val="1936984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4A4AB8-33BD-1442-7B5A-2569E248FA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2F3FAC-3B9B-7A94-848E-11ABB660A7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F0BA9C9-8F7F-2715-3B1B-17732F4FF9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AFC071-D593-4359-AA27-F2E950A95DD6}" type="datetimeFigureOut">
              <a:rPr lang="en-GB" smtClean="0"/>
              <a:t>05/09/2026</a:t>
            </a:fld>
            <a:endParaRPr lang="en-GB"/>
          </a:p>
        </p:txBody>
      </p:sp>
      <p:sp>
        <p:nvSpPr>
          <p:cNvPr id="5" name="Footer Placeholder 4">
            <a:extLst>
              <a:ext uri="{FF2B5EF4-FFF2-40B4-BE49-F238E27FC236}">
                <a16:creationId xmlns:a16="http://schemas.microsoft.com/office/drawing/2014/main" id="{40602D79-5CAD-226A-3163-1BAD6712D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C679D66-43B2-15B0-44BF-C28E2025A4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0DF88C-D176-4A8D-B60C-7713D6C82A74}" type="slidenum">
              <a:rPr lang="en-GB" smtClean="0"/>
              <a:t>‹#›</a:t>
            </a:fld>
            <a:endParaRPr lang="en-GB"/>
          </a:p>
        </p:txBody>
      </p:sp>
    </p:spTree>
    <p:extLst>
      <p:ext uri="{BB962C8B-B14F-4D97-AF65-F5344CB8AC3E}">
        <p14:creationId xmlns:p14="http://schemas.microsoft.com/office/powerpoint/2010/main" val="653005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C500F-9DD7-45B4-7E32-7D5B70D7E83F}"/>
              </a:ext>
            </a:extLst>
          </p:cNvPr>
          <p:cNvSpPr>
            <a:spLocks noGrp="1"/>
          </p:cNvSpPr>
          <p:nvPr>
            <p:ph type="ctrTitle"/>
          </p:nvPr>
        </p:nvSpPr>
        <p:spPr/>
        <p:txBody>
          <a:bodyPr/>
          <a:lstStyle/>
          <a:p>
            <a:r>
              <a:rPr lang="en-GB" dirty="0"/>
              <a:t>Harry Potter Themed</a:t>
            </a:r>
          </a:p>
        </p:txBody>
      </p:sp>
      <p:sp>
        <p:nvSpPr>
          <p:cNvPr id="3" name="Subtitle 2">
            <a:extLst>
              <a:ext uri="{FF2B5EF4-FFF2-40B4-BE49-F238E27FC236}">
                <a16:creationId xmlns:a16="http://schemas.microsoft.com/office/drawing/2014/main" id="{DA326FC9-5737-57A7-A320-4852E36E4F6B}"/>
              </a:ext>
            </a:extLst>
          </p:cNvPr>
          <p:cNvSpPr>
            <a:spLocks noGrp="1"/>
          </p:cNvSpPr>
          <p:nvPr>
            <p:ph type="subTitle" idx="1"/>
          </p:nvPr>
        </p:nvSpPr>
        <p:spPr/>
        <p:txBody>
          <a:bodyPr>
            <a:normAutofit/>
          </a:bodyPr>
          <a:lstStyle/>
          <a:p>
            <a:pPr marL="0" lvl="0" indent="0">
              <a:buNone/>
            </a:pPr>
            <a:r>
              <a:rPr lang="en-US" sz="4400" b="1" u="none" strike="noStrike" kern="1200" dirty="0">
                <a:solidFill>
                  <a:schemeClr val="tx1"/>
                </a:solidFill>
                <a:effectLst/>
                <a:latin typeface="+mj-lt"/>
                <a:ea typeface="+mj-ea"/>
                <a:cs typeface="+mj-cs"/>
              </a:rPr>
              <a:t>It activities</a:t>
            </a:r>
          </a:p>
        </p:txBody>
      </p:sp>
    </p:spTree>
    <p:extLst>
      <p:ext uri="{BB962C8B-B14F-4D97-AF65-F5344CB8AC3E}">
        <p14:creationId xmlns:p14="http://schemas.microsoft.com/office/powerpoint/2010/main" val="738221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ACA8-3790-2B23-1E53-0BE26D96219E}"/>
              </a:ext>
            </a:extLst>
          </p:cNvPr>
          <p:cNvSpPr>
            <a:spLocks noGrp="1"/>
          </p:cNvSpPr>
          <p:nvPr>
            <p:ph type="title"/>
          </p:nvPr>
        </p:nvSpPr>
        <p:spPr/>
        <p:txBody>
          <a:bodyPr/>
          <a:lstStyle/>
          <a:p>
            <a:pPr marL="742950" lvl="0" indent="-742950">
              <a:buAutoNum type="arabicPeriod"/>
            </a:pPr>
            <a:r>
              <a:rPr lang="en-US" sz="4400" b="1" u="none" strike="noStrike" kern="1200" dirty="0">
                <a:solidFill>
                  <a:schemeClr val="tx1"/>
                </a:solidFill>
                <a:effectLst/>
                <a:latin typeface="+mj-lt"/>
                <a:ea typeface="+mj-ea"/>
                <a:cs typeface="+mj-cs"/>
              </a:rPr>
              <a:t>The Digital Sorting Hat (</a:t>
            </a:r>
            <a:r>
              <a:rPr lang="en-US" sz="4400" b="1" u="none" strike="noStrike" kern="1200" dirty="0" err="1">
                <a:solidFill>
                  <a:schemeClr val="tx1"/>
                </a:solidFill>
                <a:effectLst/>
                <a:latin typeface="+mj-lt"/>
                <a:ea typeface="+mj-ea"/>
                <a:cs typeface="+mj-cs"/>
              </a:rPr>
              <a:t>Micro:bit</a:t>
            </a:r>
            <a:r>
              <a:rPr lang="en-US" sz="4400" b="1" u="none" strike="noStrike" kern="1200" dirty="0">
                <a:solidFill>
                  <a:schemeClr val="tx1"/>
                </a:solidFill>
                <a:effectLst/>
                <a:latin typeface="+mj-lt"/>
                <a:ea typeface="+mj-ea"/>
                <a:cs typeface="+mj-cs"/>
              </a:rPr>
              <a:t> / Python Programming)</a:t>
            </a:r>
            <a:endParaRPr lang="en-GB" dirty="0"/>
          </a:p>
        </p:txBody>
      </p:sp>
      <p:sp>
        <p:nvSpPr>
          <p:cNvPr id="3" name="Content Placeholder 2">
            <a:extLst>
              <a:ext uri="{FF2B5EF4-FFF2-40B4-BE49-F238E27FC236}">
                <a16:creationId xmlns:a16="http://schemas.microsoft.com/office/drawing/2014/main" id="{94B62B5B-0678-0C5E-EB89-ED2307BFE44B}"/>
              </a:ext>
            </a:extLst>
          </p:cNvPr>
          <p:cNvSpPr>
            <a:spLocks noGrp="1"/>
          </p:cNvSpPr>
          <p:nvPr>
            <p:ph idx="1"/>
          </p:nvPr>
        </p:nvSpPr>
        <p:spPr/>
        <p:txBody>
          <a:bodyPr>
            <a:normAutofit fontScale="70000" lnSpcReduction="20000"/>
          </a:bodyPr>
          <a:lstStyle/>
          <a:p>
            <a:pPr marL="742950" lvl="0" indent="-742950">
              <a:buAutoNum type="arabicPeriod"/>
            </a:pPr>
            <a:endParaRPr lang="en-US" sz="4400" b="0" u="none" strike="noStrike" kern="1200" dirty="0">
              <a:solidFill>
                <a:schemeClr val="tx1"/>
              </a:solidFill>
              <a:effectLst/>
              <a:latin typeface="+mj-lt"/>
              <a:ea typeface="+mj-ea"/>
              <a:cs typeface="+mj-cs"/>
            </a:endParaRPr>
          </a:p>
          <a:p>
            <a:pPr marL="685800" lvl="1" indent="-228600"/>
            <a:r>
              <a:rPr lang="en-US" sz="4000" b="0" u="none" strike="noStrike" kern="1200" dirty="0">
                <a:solidFill>
                  <a:schemeClr val="tx1"/>
                </a:solidFill>
                <a:effectLst/>
                <a:latin typeface="+mj-lt"/>
                <a:ea typeface="+mj-ea"/>
                <a:cs typeface="+mj-cs"/>
              </a:rPr>
              <a:t>Students write or tweak a simple script to turn a BBC </a:t>
            </a:r>
            <a:r>
              <a:rPr lang="en-US" sz="4000" b="0" u="none" strike="noStrike" kern="1200" dirty="0" err="1">
                <a:solidFill>
                  <a:schemeClr val="tx1"/>
                </a:solidFill>
                <a:effectLst/>
                <a:latin typeface="+mj-lt"/>
                <a:ea typeface="+mj-ea"/>
                <a:cs typeface="+mj-cs"/>
              </a:rPr>
              <a:t>micro:bit</a:t>
            </a:r>
            <a:r>
              <a:rPr lang="en-US" sz="4000" b="0" u="none" strike="noStrike" kern="1200" dirty="0">
                <a:solidFill>
                  <a:schemeClr val="tx1"/>
                </a:solidFill>
                <a:effectLst/>
                <a:latin typeface="+mj-lt"/>
                <a:ea typeface="+mj-ea"/>
                <a:cs typeface="+mj-cs"/>
              </a:rPr>
              <a:t> (or an on-screen Python emulator) into the Sorting Hat.</a:t>
            </a:r>
          </a:p>
          <a:p>
            <a:pPr lvl="1"/>
            <a:r>
              <a:rPr lang="en-US" sz="4000" b="1" u="none" strike="noStrike" kern="1200" dirty="0">
                <a:solidFill>
                  <a:schemeClr val="tx1"/>
                </a:solidFill>
                <a:effectLst/>
                <a:latin typeface="+mj-lt"/>
                <a:ea typeface="+mj-ea"/>
                <a:cs typeface="+mj-cs"/>
              </a:rPr>
              <a:t>The Activity:</a:t>
            </a:r>
            <a:r>
              <a:rPr lang="en-US" sz="4000" b="0" u="none" strike="noStrike" kern="1200" dirty="0">
                <a:solidFill>
                  <a:schemeClr val="tx1"/>
                </a:solidFill>
                <a:effectLst/>
                <a:latin typeface="+mj-lt"/>
                <a:ea typeface="+mj-ea"/>
                <a:cs typeface="+mj-cs"/>
              </a:rPr>
              <a:t> Students use basic conditional logic (if/</a:t>
            </a:r>
            <a:r>
              <a:rPr lang="en-US" sz="4000" b="0" u="none" strike="noStrike" kern="1200" dirty="0" err="1">
                <a:solidFill>
                  <a:schemeClr val="tx1"/>
                </a:solidFill>
                <a:effectLst/>
                <a:latin typeface="+mj-lt"/>
                <a:ea typeface="+mj-ea"/>
                <a:cs typeface="+mj-cs"/>
              </a:rPr>
              <a:t>elif</a:t>
            </a:r>
            <a:r>
              <a:rPr lang="en-US" sz="4000" b="0" u="none" strike="noStrike" kern="1200" dirty="0">
                <a:solidFill>
                  <a:schemeClr val="tx1"/>
                </a:solidFill>
                <a:effectLst/>
                <a:latin typeface="+mj-lt"/>
                <a:ea typeface="+mj-ea"/>
                <a:cs typeface="+mj-cs"/>
              </a:rPr>
              <a:t>/else). When they press a button or shake the </a:t>
            </a:r>
            <a:r>
              <a:rPr lang="en-US" sz="4000" b="0" u="none" strike="noStrike" kern="1200" dirty="0" err="1">
                <a:solidFill>
                  <a:schemeClr val="tx1"/>
                </a:solidFill>
                <a:effectLst/>
                <a:latin typeface="+mj-lt"/>
                <a:ea typeface="+mj-ea"/>
                <a:cs typeface="+mj-cs"/>
              </a:rPr>
              <a:t>micro:bit</a:t>
            </a:r>
            <a:r>
              <a:rPr lang="en-US" sz="4000" b="0" u="none" strike="noStrike" kern="1200" dirty="0">
                <a:solidFill>
                  <a:schemeClr val="tx1"/>
                </a:solidFill>
                <a:effectLst/>
                <a:latin typeface="+mj-lt"/>
                <a:ea typeface="+mj-ea"/>
                <a:cs typeface="+mj-cs"/>
              </a:rPr>
              <a:t>, the device randomly selects and displays a Hogwarts House logo or text (e.g., "G", "S", "H", "R") on the LED matrix, accompanied by a custom retro beep sound.</a:t>
            </a:r>
          </a:p>
          <a:p>
            <a:pPr lvl="1"/>
            <a:r>
              <a:rPr lang="en-US" sz="4000" b="1" u="none" strike="noStrike" kern="1200" dirty="0">
                <a:solidFill>
                  <a:schemeClr val="tx1"/>
                </a:solidFill>
                <a:effectLst/>
                <a:latin typeface="+mj-lt"/>
                <a:ea typeface="+mj-ea"/>
                <a:cs typeface="+mj-cs"/>
              </a:rPr>
              <a:t>Why it works for Open Days:</a:t>
            </a:r>
            <a:r>
              <a:rPr lang="en-US" sz="4000" b="0" u="none" strike="noStrike" kern="1200" dirty="0">
                <a:solidFill>
                  <a:schemeClr val="tx1"/>
                </a:solidFill>
                <a:effectLst/>
                <a:latin typeface="+mj-lt"/>
                <a:ea typeface="+mj-ea"/>
                <a:cs typeface="+mj-cs"/>
              </a:rPr>
              <a:t> It teaches core programming concepts like </a:t>
            </a:r>
            <a:r>
              <a:rPr lang="en-US" sz="4000" b="1" u="none" strike="noStrike" kern="1200" dirty="0">
                <a:solidFill>
                  <a:schemeClr val="tx1"/>
                </a:solidFill>
                <a:effectLst/>
                <a:latin typeface="+mj-lt"/>
                <a:ea typeface="+mj-ea"/>
                <a:cs typeface="+mj-cs"/>
              </a:rPr>
              <a:t>randomization and variables</a:t>
            </a:r>
            <a:r>
              <a:rPr lang="en-US" sz="4000" b="0" u="none" strike="noStrike" kern="1200" dirty="0">
                <a:solidFill>
                  <a:schemeClr val="tx1"/>
                </a:solidFill>
                <a:effectLst/>
                <a:latin typeface="+mj-lt"/>
                <a:ea typeface="+mj-ea"/>
                <a:cs typeface="+mj-cs"/>
              </a:rPr>
              <a:t> in just a few lines of code. It gives visiting families an instant, tactile reward they can see and hear.</a:t>
            </a:r>
          </a:p>
        </p:txBody>
      </p:sp>
    </p:spTree>
    <p:extLst>
      <p:ext uri="{BB962C8B-B14F-4D97-AF65-F5344CB8AC3E}">
        <p14:creationId xmlns:p14="http://schemas.microsoft.com/office/powerpoint/2010/main" val="1365759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6C14-771A-E312-E045-A89541940FFC}"/>
              </a:ext>
            </a:extLst>
          </p:cNvPr>
          <p:cNvSpPr>
            <a:spLocks noGrp="1"/>
          </p:cNvSpPr>
          <p:nvPr>
            <p:ph type="title"/>
          </p:nvPr>
        </p:nvSpPr>
        <p:spPr/>
        <p:txBody>
          <a:bodyPr/>
          <a:lstStyle/>
          <a:p>
            <a:pPr lvl="0"/>
            <a:r>
              <a:rPr lang="en-US" sz="4400" b="1" u="none" strike="noStrike" kern="1200" dirty="0">
                <a:solidFill>
                  <a:schemeClr val="tx1"/>
                </a:solidFill>
                <a:effectLst/>
                <a:latin typeface="+mj-lt"/>
                <a:ea typeface="+mj-ea"/>
                <a:cs typeface="+mj-cs"/>
              </a:rPr>
              <a:t>2. Marauder’s Map Cyber Security Challenge (Cryptography)</a:t>
            </a:r>
            <a:endParaRPr lang="en-GB" dirty="0"/>
          </a:p>
        </p:txBody>
      </p:sp>
      <p:sp>
        <p:nvSpPr>
          <p:cNvPr id="3" name="Content Placeholder 2">
            <a:extLst>
              <a:ext uri="{FF2B5EF4-FFF2-40B4-BE49-F238E27FC236}">
                <a16:creationId xmlns:a16="http://schemas.microsoft.com/office/drawing/2014/main" id="{A1C70060-BD51-F414-A98A-88262719E228}"/>
              </a:ext>
            </a:extLst>
          </p:cNvPr>
          <p:cNvSpPr>
            <a:spLocks noGrp="1"/>
          </p:cNvSpPr>
          <p:nvPr>
            <p:ph idx="1"/>
          </p:nvPr>
        </p:nvSpPr>
        <p:spPr/>
        <p:txBody>
          <a:bodyPr>
            <a:normAutofit fontScale="62500" lnSpcReduction="20000"/>
          </a:bodyPr>
          <a:lstStyle/>
          <a:p>
            <a:pPr lvl="0"/>
            <a:r>
              <a:rPr lang="en-US" sz="4400" b="0" u="none" strike="noStrike" kern="1200" dirty="0">
                <a:solidFill>
                  <a:schemeClr val="tx1"/>
                </a:solidFill>
                <a:effectLst/>
                <a:latin typeface="+mj-lt"/>
                <a:ea typeface="+mj-ea"/>
                <a:cs typeface="+mj-cs"/>
              </a:rPr>
              <a:t>Turn your IT suite into a mini-Bletchley Park where students must decrypt clues to unlock a hidden "magical" directory on the network or a locked box. [1]</a:t>
            </a:r>
          </a:p>
          <a:p>
            <a:pPr lvl="0"/>
            <a:r>
              <a:rPr lang="en-US" sz="4400" b="1" u="none" strike="noStrike" kern="1200" dirty="0">
                <a:solidFill>
                  <a:schemeClr val="tx1"/>
                </a:solidFill>
                <a:effectLst/>
                <a:latin typeface="+mj-lt"/>
                <a:ea typeface="+mj-ea"/>
                <a:cs typeface="+mj-cs"/>
              </a:rPr>
              <a:t>The Activity:</a:t>
            </a:r>
            <a:r>
              <a:rPr lang="en-US" sz="4400" b="0" u="none" strike="noStrike" kern="1200" dirty="0">
                <a:solidFill>
                  <a:schemeClr val="tx1"/>
                </a:solidFill>
                <a:effectLst/>
                <a:latin typeface="+mj-lt"/>
                <a:ea typeface="+mj-ea"/>
                <a:cs typeface="+mj-cs"/>
              </a:rPr>
              <a:t> Provide students with a "parchment" containing encrypted text (using simple ciphers like the </a:t>
            </a:r>
            <a:r>
              <a:rPr lang="en-US" sz="4400" b="1" u="none" strike="noStrike" kern="1200" dirty="0">
                <a:solidFill>
                  <a:schemeClr val="tx1"/>
                </a:solidFill>
                <a:effectLst/>
                <a:latin typeface="+mj-lt"/>
                <a:ea typeface="+mj-ea"/>
                <a:cs typeface="+mj-cs"/>
              </a:rPr>
              <a:t>Caesar Cipher</a:t>
            </a:r>
            <a:r>
              <a:rPr lang="en-US" sz="4400" b="0" u="none" strike="noStrike" kern="1200" dirty="0">
                <a:solidFill>
                  <a:schemeClr val="tx1"/>
                </a:solidFill>
                <a:effectLst/>
                <a:latin typeface="+mj-lt"/>
                <a:ea typeface="+mj-ea"/>
                <a:cs typeface="+mj-cs"/>
              </a:rPr>
              <a:t> or </a:t>
            </a:r>
            <a:r>
              <a:rPr lang="en-US" sz="4400" b="1" u="none" strike="noStrike" kern="1200" dirty="0">
                <a:solidFill>
                  <a:schemeClr val="tx1"/>
                </a:solidFill>
                <a:effectLst/>
                <a:latin typeface="+mj-lt"/>
                <a:ea typeface="+mj-ea"/>
                <a:cs typeface="+mj-cs"/>
              </a:rPr>
              <a:t>Pigpen Cipher</a:t>
            </a:r>
            <a:r>
              <a:rPr lang="en-US" sz="4400" b="0" u="none" strike="noStrike" kern="1200" dirty="0">
                <a:solidFill>
                  <a:schemeClr val="tx1"/>
                </a:solidFill>
                <a:effectLst/>
                <a:latin typeface="+mj-lt"/>
                <a:ea typeface="+mj-ea"/>
                <a:cs typeface="+mj-cs"/>
              </a:rPr>
              <a:t>). They must use an on-screen Python decoder tool or a quick spreadsheet formula to crack the codes. The decoded answers reveal the passwords to "reveal" the hidden map.</a:t>
            </a:r>
          </a:p>
          <a:p>
            <a:pPr lvl="0"/>
            <a:r>
              <a:rPr lang="en-US" sz="4400" b="1" u="none" strike="noStrike" kern="1200" dirty="0">
                <a:solidFill>
                  <a:schemeClr val="tx1"/>
                </a:solidFill>
                <a:effectLst/>
                <a:latin typeface="+mj-lt"/>
                <a:ea typeface="+mj-ea"/>
                <a:cs typeface="+mj-cs"/>
              </a:rPr>
              <a:t>Why it works for Open Days:</a:t>
            </a:r>
            <a:r>
              <a:rPr lang="en-US" sz="4400" b="0" u="none" strike="noStrike" kern="1200" dirty="0">
                <a:solidFill>
                  <a:schemeClr val="tx1"/>
                </a:solidFill>
                <a:effectLst/>
                <a:latin typeface="+mj-lt"/>
                <a:ea typeface="+mj-ea"/>
                <a:cs typeface="+mj-cs"/>
              </a:rPr>
              <a:t> It introduces data security, encryption, and </a:t>
            </a:r>
            <a:r>
              <a:rPr lang="en-US" sz="4400" b="1" u="none" strike="noStrike" kern="1200" dirty="0">
                <a:solidFill>
                  <a:schemeClr val="tx1"/>
                </a:solidFill>
                <a:effectLst/>
                <a:latin typeface="+mj-lt"/>
                <a:ea typeface="+mj-ea"/>
                <a:cs typeface="+mj-cs"/>
              </a:rPr>
              <a:t>computational thinking</a:t>
            </a:r>
            <a:r>
              <a:rPr lang="en-US" sz="4400" b="0" u="none" strike="noStrike" kern="1200" dirty="0">
                <a:solidFill>
                  <a:schemeClr val="tx1"/>
                </a:solidFill>
                <a:effectLst/>
                <a:latin typeface="+mj-lt"/>
                <a:ea typeface="+mj-ea"/>
                <a:cs typeface="+mj-cs"/>
              </a:rPr>
              <a:t> without requiring prior coding knowledge. It is highly competitive and appeals to parents and students alike.</a:t>
            </a:r>
          </a:p>
        </p:txBody>
      </p:sp>
    </p:spTree>
    <p:extLst>
      <p:ext uri="{BB962C8B-B14F-4D97-AF65-F5344CB8AC3E}">
        <p14:creationId xmlns:p14="http://schemas.microsoft.com/office/powerpoint/2010/main" val="600191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70E0E-8CE9-D60F-D03D-E0BC36246FE9}"/>
              </a:ext>
            </a:extLst>
          </p:cNvPr>
          <p:cNvSpPr>
            <a:spLocks noGrp="1"/>
          </p:cNvSpPr>
          <p:nvPr>
            <p:ph type="title"/>
          </p:nvPr>
        </p:nvSpPr>
        <p:spPr/>
        <p:txBody>
          <a:bodyPr/>
          <a:lstStyle/>
          <a:p>
            <a:pPr lvl="0"/>
            <a:r>
              <a:rPr lang="en-US" sz="4400" b="1" u="none" strike="noStrike" kern="1200" dirty="0">
                <a:solidFill>
                  <a:schemeClr val="tx1"/>
                </a:solidFill>
                <a:effectLst/>
                <a:latin typeface="+mj-lt"/>
                <a:ea typeface="+mj-ea"/>
                <a:cs typeface="+mj-cs"/>
              </a:rPr>
              <a:t>3. Diagon Alley Web Design &amp; </a:t>
            </a:r>
            <a:r>
              <a:rPr lang="en-US" sz="4400" b="1" u="none" strike="noStrike" kern="1200" dirty="0" err="1">
                <a:solidFill>
                  <a:schemeClr val="tx1"/>
                </a:solidFill>
                <a:effectLst/>
                <a:latin typeface="+mj-lt"/>
                <a:ea typeface="+mj-ea"/>
                <a:cs typeface="+mj-cs"/>
              </a:rPr>
              <a:t>Ollivanders</a:t>
            </a:r>
            <a:r>
              <a:rPr lang="en-US" sz="4400" b="1" u="none" strike="noStrike" kern="1200" dirty="0">
                <a:solidFill>
                  <a:schemeClr val="tx1"/>
                </a:solidFill>
                <a:effectLst/>
                <a:latin typeface="+mj-lt"/>
                <a:ea typeface="+mj-ea"/>
                <a:cs typeface="+mj-cs"/>
              </a:rPr>
              <a:t>' Wand Selector (HTML/JS)</a:t>
            </a:r>
            <a:endParaRPr lang="en-GB" dirty="0"/>
          </a:p>
        </p:txBody>
      </p:sp>
      <p:sp>
        <p:nvSpPr>
          <p:cNvPr id="3" name="Content Placeholder 2">
            <a:extLst>
              <a:ext uri="{FF2B5EF4-FFF2-40B4-BE49-F238E27FC236}">
                <a16:creationId xmlns:a16="http://schemas.microsoft.com/office/drawing/2014/main" id="{239BDAA8-66A9-7B26-3B0A-5DAF2D3C688C}"/>
              </a:ext>
            </a:extLst>
          </p:cNvPr>
          <p:cNvSpPr>
            <a:spLocks noGrp="1"/>
          </p:cNvSpPr>
          <p:nvPr>
            <p:ph idx="1"/>
          </p:nvPr>
        </p:nvSpPr>
        <p:spPr/>
        <p:txBody>
          <a:bodyPr>
            <a:normAutofit fontScale="70000" lnSpcReduction="20000"/>
          </a:bodyPr>
          <a:lstStyle/>
          <a:p>
            <a:pPr lvl="0"/>
            <a:r>
              <a:rPr lang="en-US" sz="4400" b="0" u="none" strike="noStrike" kern="1200" dirty="0">
                <a:solidFill>
                  <a:schemeClr val="tx1"/>
                </a:solidFill>
                <a:effectLst/>
                <a:latin typeface="+mj-lt"/>
                <a:ea typeface="+mj-ea"/>
                <a:cs typeface="+mj-cs"/>
              </a:rPr>
              <a:t>Students interact with a pre-made web page for a wizarding shop and learn how code changes the front-end user experience.</a:t>
            </a:r>
          </a:p>
          <a:p>
            <a:pPr lvl="0"/>
            <a:r>
              <a:rPr lang="en-US" sz="4400" b="1" u="none" strike="noStrike" kern="1200" dirty="0">
                <a:solidFill>
                  <a:schemeClr val="tx1"/>
                </a:solidFill>
                <a:effectLst/>
                <a:latin typeface="+mj-lt"/>
                <a:ea typeface="+mj-ea"/>
                <a:cs typeface="+mj-cs"/>
              </a:rPr>
              <a:t>The Activity:</a:t>
            </a:r>
            <a:r>
              <a:rPr lang="en-US" sz="4400" b="0" u="none" strike="noStrike" kern="1200" dirty="0">
                <a:solidFill>
                  <a:schemeClr val="tx1"/>
                </a:solidFill>
                <a:effectLst/>
                <a:latin typeface="+mj-lt"/>
                <a:ea typeface="+mj-ea"/>
                <a:cs typeface="+mj-cs"/>
              </a:rPr>
              <a:t> Set up a basic web form where users enter their traits (e.g., flexibility, core preference, birth month). Students look at a simplified code editor to change the CSS styles (e.g., changing the background to house colors) or tweak a JavaScript function so the web page calculates and displays their perfect wand.</a:t>
            </a:r>
          </a:p>
          <a:p>
            <a:pPr lvl="0"/>
            <a:r>
              <a:rPr lang="en-US" sz="4400" b="1" u="none" strike="noStrike" kern="1200" dirty="0">
                <a:solidFill>
                  <a:schemeClr val="tx1"/>
                </a:solidFill>
                <a:effectLst/>
                <a:latin typeface="+mj-lt"/>
                <a:ea typeface="+mj-ea"/>
                <a:cs typeface="+mj-cs"/>
              </a:rPr>
              <a:t>Why it works for Open Days:</a:t>
            </a:r>
            <a:r>
              <a:rPr lang="en-US" sz="4400" b="0" u="none" strike="noStrike" kern="1200" dirty="0">
                <a:solidFill>
                  <a:schemeClr val="tx1"/>
                </a:solidFill>
                <a:effectLst/>
                <a:latin typeface="+mj-lt"/>
                <a:ea typeface="+mj-ea"/>
                <a:cs typeface="+mj-cs"/>
              </a:rPr>
              <a:t> It offers an immediate visual payoff. It shows how the languages of the web (</a:t>
            </a:r>
            <a:r>
              <a:rPr lang="en-US" sz="4400" b="1" u="none" strike="noStrike" kern="1200" dirty="0">
                <a:solidFill>
                  <a:schemeClr val="tx1"/>
                </a:solidFill>
                <a:effectLst/>
                <a:latin typeface="+mj-lt"/>
                <a:ea typeface="+mj-ea"/>
                <a:cs typeface="+mj-cs"/>
              </a:rPr>
              <a:t>HTML, CSS, and JavaScript</a:t>
            </a:r>
            <a:r>
              <a:rPr lang="en-US" sz="4400" b="0" u="none" strike="noStrike" kern="1200" dirty="0">
                <a:solidFill>
                  <a:schemeClr val="tx1"/>
                </a:solidFill>
                <a:effectLst/>
                <a:latin typeface="+mj-lt"/>
                <a:ea typeface="+mj-ea"/>
                <a:cs typeface="+mj-cs"/>
              </a:rPr>
              <a:t>) build the sites they use every day.</a:t>
            </a:r>
          </a:p>
        </p:txBody>
      </p:sp>
    </p:spTree>
    <p:extLst>
      <p:ext uri="{BB962C8B-B14F-4D97-AF65-F5344CB8AC3E}">
        <p14:creationId xmlns:p14="http://schemas.microsoft.com/office/powerpoint/2010/main" val="2320821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AAE92-CDE7-7D6E-6479-35050DD9756D}"/>
              </a:ext>
            </a:extLst>
          </p:cNvPr>
          <p:cNvSpPr>
            <a:spLocks noGrp="1"/>
          </p:cNvSpPr>
          <p:nvPr>
            <p:ph type="title"/>
          </p:nvPr>
        </p:nvSpPr>
        <p:spPr/>
        <p:txBody>
          <a:bodyPr/>
          <a:lstStyle/>
          <a:p>
            <a:endParaRPr lang="en-GB" dirty="0"/>
          </a:p>
        </p:txBody>
      </p:sp>
      <p:pic>
        <p:nvPicPr>
          <p:cNvPr id="5" name="Content Placeholder 4">
            <a:extLst>
              <a:ext uri="{FF2B5EF4-FFF2-40B4-BE49-F238E27FC236}">
                <a16:creationId xmlns:a16="http://schemas.microsoft.com/office/drawing/2014/main" id="{062975DC-1CC5-2C86-CA93-75E713DC97F5}"/>
              </a:ext>
            </a:extLst>
          </p:cNvPr>
          <p:cNvPicPr>
            <a:picLocks noGrp="1" noChangeAspect="1"/>
          </p:cNvPicPr>
          <p:nvPr>
            <p:ph idx="1"/>
          </p:nvPr>
        </p:nvPicPr>
        <p:blipFill>
          <a:blip r:embed="rId2"/>
          <a:stretch>
            <a:fillRect/>
          </a:stretch>
        </p:blipFill>
        <p:spPr>
          <a:xfrm>
            <a:off x="1823736" y="1825625"/>
            <a:ext cx="8544527" cy="4351338"/>
          </a:xfrm>
        </p:spPr>
      </p:pic>
    </p:spTree>
    <p:extLst>
      <p:ext uri="{BB962C8B-B14F-4D97-AF65-F5344CB8AC3E}">
        <p14:creationId xmlns:p14="http://schemas.microsoft.com/office/powerpoint/2010/main" val="3214037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522B-4E7C-9D22-5413-0C423C2B3F22}"/>
              </a:ext>
            </a:extLst>
          </p:cNvPr>
          <p:cNvSpPr>
            <a:spLocks noGrp="1"/>
          </p:cNvSpPr>
          <p:nvPr>
            <p:ph type="title"/>
          </p:nvPr>
        </p:nvSpPr>
        <p:spPr/>
        <p:txBody>
          <a:bodyPr/>
          <a:lstStyle/>
          <a:p>
            <a:r>
              <a:rPr lang="en-GB" dirty="0"/>
              <a:t>Page and Dashboard</a:t>
            </a:r>
          </a:p>
        </p:txBody>
      </p:sp>
      <p:pic>
        <p:nvPicPr>
          <p:cNvPr id="5" name="Content Placeholder 4">
            <a:extLst>
              <a:ext uri="{FF2B5EF4-FFF2-40B4-BE49-F238E27FC236}">
                <a16:creationId xmlns:a16="http://schemas.microsoft.com/office/drawing/2014/main" id="{7C83E5E0-04C2-F0DC-A195-B14DCA309C71}"/>
              </a:ext>
            </a:extLst>
          </p:cNvPr>
          <p:cNvPicPr>
            <a:picLocks noGrp="1" noChangeAspect="1"/>
          </p:cNvPicPr>
          <p:nvPr>
            <p:ph idx="1"/>
          </p:nvPr>
        </p:nvPicPr>
        <p:blipFill>
          <a:blip r:embed="rId2"/>
          <a:stretch>
            <a:fillRect/>
          </a:stretch>
        </p:blipFill>
        <p:spPr>
          <a:xfrm>
            <a:off x="2136594" y="1825625"/>
            <a:ext cx="7918811" cy="4351338"/>
          </a:xfrm>
        </p:spPr>
      </p:pic>
    </p:spTree>
    <p:extLst>
      <p:ext uri="{BB962C8B-B14F-4D97-AF65-F5344CB8AC3E}">
        <p14:creationId xmlns:p14="http://schemas.microsoft.com/office/powerpoint/2010/main" val="1606704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07D2-9E21-8BB4-7909-77AC812C75CA}"/>
              </a:ext>
            </a:extLst>
          </p:cNvPr>
          <p:cNvSpPr>
            <a:spLocks noGrp="1"/>
          </p:cNvSpPr>
          <p:nvPr>
            <p:ph type="title"/>
          </p:nvPr>
        </p:nvSpPr>
        <p:spPr/>
        <p:txBody>
          <a:bodyPr/>
          <a:lstStyle/>
          <a:p>
            <a:pPr lvl="0"/>
            <a:r>
              <a:rPr lang="en-US" sz="4400" b="1" u="none" strike="noStrike" kern="1200" dirty="0">
                <a:solidFill>
                  <a:schemeClr val="tx1"/>
                </a:solidFill>
                <a:effectLst/>
                <a:latin typeface="+mj-lt"/>
                <a:ea typeface="+mj-ea"/>
                <a:cs typeface="+mj-cs"/>
              </a:rPr>
              <a:t>4. Flitwick’s Flight Class (Scratch Block Coding)</a:t>
            </a:r>
            <a:endParaRPr lang="en-GB" dirty="0"/>
          </a:p>
        </p:txBody>
      </p:sp>
      <p:sp>
        <p:nvSpPr>
          <p:cNvPr id="3" name="Content Placeholder 2">
            <a:extLst>
              <a:ext uri="{FF2B5EF4-FFF2-40B4-BE49-F238E27FC236}">
                <a16:creationId xmlns:a16="http://schemas.microsoft.com/office/drawing/2014/main" id="{93030E0B-648D-F10A-4C79-9F7C582EDFC9}"/>
              </a:ext>
            </a:extLst>
          </p:cNvPr>
          <p:cNvSpPr>
            <a:spLocks noGrp="1"/>
          </p:cNvSpPr>
          <p:nvPr>
            <p:ph idx="1"/>
          </p:nvPr>
        </p:nvSpPr>
        <p:spPr/>
        <p:txBody>
          <a:bodyPr>
            <a:normAutofit fontScale="70000" lnSpcReduction="20000"/>
          </a:bodyPr>
          <a:lstStyle/>
          <a:p>
            <a:pPr lvl="0"/>
            <a:r>
              <a:rPr lang="en-US" sz="4400" b="0" u="none" strike="noStrike" kern="1200" dirty="0">
                <a:solidFill>
                  <a:schemeClr val="tx1"/>
                </a:solidFill>
                <a:effectLst/>
                <a:latin typeface="+mj-lt"/>
                <a:ea typeface="+mj-ea"/>
                <a:cs typeface="+mj-cs"/>
              </a:rPr>
              <a:t>A quick game-design station where visiting students debug or complete a mini-game.</a:t>
            </a:r>
          </a:p>
          <a:p>
            <a:pPr lvl="0"/>
            <a:r>
              <a:rPr lang="en-US" sz="4400" b="1" u="none" strike="noStrike" kern="1200" dirty="0">
                <a:solidFill>
                  <a:schemeClr val="tx1"/>
                </a:solidFill>
                <a:effectLst/>
                <a:latin typeface="+mj-lt"/>
                <a:ea typeface="+mj-ea"/>
                <a:cs typeface="+mj-cs"/>
              </a:rPr>
              <a:t>The Activity:</a:t>
            </a:r>
            <a:r>
              <a:rPr lang="en-US" sz="4400" b="0" u="none" strike="noStrike" kern="1200" dirty="0">
                <a:solidFill>
                  <a:schemeClr val="tx1"/>
                </a:solidFill>
                <a:effectLst/>
                <a:latin typeface="+mj-lt"/>
                <a:ea typeface="+mj-ea"/>
                <a:cs typeface="+mj-cs"/>
              </a:rPr>
              <a:t> Provide a pre-built Scratch template of a character on a broomstick trying to catch a Golden Snitch while dodging </a:t>
            </a:r>
            <a:r>
              <a:rPr lang="en-US" sz="4400" b="0" u="none" strike="noStrike" kern="1200" dirty="0" err="1">
                <a:solidFill>
                  <a:schemeClr val="tx1"/>
                </a:solidFill>
                <a:effectLst/>
                <a:latin typeface="+mj-lt"/>
                <a:ea typeface="+mj-ea"/>
                <a:cs typeface="+mj-cs"/>
              </a:rPr>
              <a:t>Bludgers</a:t>
            </a:r>
            <a:r>
              <a:rPr lang="en-US" sz="4400" b="0" u="none" strike="noStrike" kern="1200" dirty="0">
                <a:solidFill>
                  <a:schemeClr val="tx1"/>
                </a:solidFill>
                <a:effectLst/>
                <a:latin typeface="+mj-lt"/>
                <a:ea typeface="+mj-ea"/>
                <a:cs typeface="+mj-cs"/>
              </a:rPr>
              <a:t>. The game is intentionally broken or missing core code (e.g., the broom doesn't move up, or the Snitch doesn't grant points). Students must drag and drop the missing blocks into place to fix the game and play it.</a:t>
            </a:r>
          </a:p>
          <a:p>
            <a:pPr lvl="0"/>
            <a:r>
              <a:rPr lang="en-US" sz="4400" b="1" u="none" strike="noStrike" kern="1200" dirty="0">
                <a:solidFill>
                  <a:schemeClr val="tx1"/>
                </a:solidFill>
                <a:effectLst/>
                <a:latin typeface="+mj-lt"/>
                <a:ea typeface="+mj-ea"/>
                <a:cs typeface="+mj-cs"/>
              </a:rPr>
              <a:t>Why it works for Open Days:</a:t>
            </a:r>
            <a:r>
              <a:rPr lang="en-US" sz="4400" b="0" u="none" strike="noStrike" kern="1200" dirty="0">
                <a:solidFill>
                  <a:schemeClr val="tx1"/>
                </a:solidFill>
                <a:effectLst/>
                <a:latin typeface="+mj-lt"/>
                <a:ea typeface="+mj-ea"/>
                <a:cs typeface="+mj-cs"/>
              </a:rPr>
              <a:t> Scratch is exceptionally intuitive for younger students transitioning from primary school. A leaderboard on the whiteboard for the highest game score keeps the room buzzing.</a:t>
            </a:r>
            <a:endParaRPr lang="en-GB" dirty="0"/>
          </a:p>
        </p:txBody>
      </p:sp>
    </p:spTree>
    <p:extLst>
      <p:ext uri="{BB962C8B-B14F-4D97-AF65-F5344CB8AC3E}">
        <p14:creationId xmlns:p14="http://schemas.microsoft.com/office/powerpoint/2010/main" val="3205428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556</Words>
  <Application>Microsoft Office PowerPoint</Application>
  <PresentationFormat>Widescreen</PresentationFormat>
  <Paragraphs>20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Harry Potter Themed</vt:lpstr>
      <vt:lpstr>The Digital Sorting Hat (Micro:bit / Python Programming)</vt:lpstr>
      <vt:lpstr>2. Marauder’s Map Cyber Security Challenge (Cryptography)</vt:lpstr>
      <vt:lpstr>3. Diagon Alley Web Design &amp; Ollivanders' Wand Selector (HTML/JS)</vt:lpstr>
      <vt:lpstr>PowerPoint Presentation</vt:lpstr>
      <vt:lpstr>Page and Dashboard</vt:lpstr>
      <vt:lpstr>4. Flitwick’s Flight Class (Scratch Block Coding)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Jim Kerr</dc:creator>
  <cp:lastModifiedBy>Jim Kerr</cp:lastModifiedBy>
  <cp:revision>2</cp:revision>
  <dcterms:created xsi:type="dcterms:W3CDTF">2026-09-05T09:29:38Z</dcterms:created>
  <dcterms:modified xsi:type="dcterms:W3CDTF">2026-09-05T13:00:04Z</dcterms:modified>
</cp:coreProperties>
</file>